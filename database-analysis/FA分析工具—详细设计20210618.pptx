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36"/>
  </p:notesMasterIdLst>
  <p:sldIdLst>
    <p:sldId id="283" r:id="rId3"/>
    <p:sldId id="383" r:id="rId4"/>
    <p:sldId id="294" r:id="rId5"/>
    <p:sldId id="403" r:id="rId6"/>
    <p:sldId id="404" r:id="rId7"/>
    <p:sldId id="352" r:id="rId8"/>
    <p:sldId id="363" r:id="rId9"/>
    <p:sldId id="412" r:id="rId10"/>
    <p:sldId id="418" r:id="rId11"/>
    <p:sldId id="417" r:id="rId12"/>
    <p:sldId id="419" r:id="rId13"/>
    <p:sldId id="413" r:id="rId14"/>
    <p:sldId id="414" r:id="rId15"/>
    <p:sldId id="415" r:id="rId16"/>
    <p:sldId id="416" r:id="rId17"/>
    <p:sldId id="382" r:id="rId18"/>
    <p:sldId id="353" r:id="rId19"/>
    <p:sldId id="344" r:id="rId20"/>
    <p:sldId id="407" r:id="rId21"/>
    <p:sldId id="354" r:id="rId22"/>
    <p:sldId id="355" r:id="rId23"/>
    <p:sldId id="356" r:id="rId24"/>
    <p:sldId id="357" r:id="rId25"/>
    <p:sldId id="358" r:id="rId26"/>
    <p:sldId id="408" r:id="rId27"/>
    <p:sldId id="406" r:id="rId28"/>
    <p:sldId id="359" r:id="rId29"/>
    <p:sldId id="375" r:id="rId30"/>
    <p:sldId id="379" r:id="rId31"/>
    <p:sldId id="380" r:id="rId32"/>
    <p:sldId id="409" r:id="rId33"/>
    <p:sldId id="410" r:id="rId34"/>
    <p:sldId id="282" r:id="rId35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研发一部 姚家杰" initials="研发一部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3CF"/>
    <a:srgbClr val="EBF1E9"/>
    <a:srgbClr val="00B0A9"/>
    <a:srgbClr val="00B082"/>
    <a:srgbClr val="00B0C9"/>
    <a:srgbClr val="00B0E0"/>
    <a:srgbClr val="00B0ED"/>
    <a:srgbClr val="00B0EE"/>
    <a:srgbClr val="00B0EC"/>
    <a:srgbClr val="00B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826" autoAdjust="0"/>
  </p:normalViewPr>
  <p:slideViewPr>
    <p:cSldViewPr snapToGrid="0">
      <p:cViewPr varScale="1">
        <p:scale>
          <a:sx n="80" d="100"/>
          <a:sy n="80" d="100"/>
        </p:scale>
        <p:origin x="10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771B0-D2F5-4913-9C8F-3BA91C8CE95F}" type="datetimeFigureOut">
              <a:rPr lang="zh-CN" altLang="en-US" smtClean="0"/>
              <a:t>2021/6/18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6F290-3B91-47ED-8469-6CA171F346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2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02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504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99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409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363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843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612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946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1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82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420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038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61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590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383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214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825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617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858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723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750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027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498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8814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844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8701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16F290-3B91-47ED-8469-6CA171F346C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61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0" y="1999791"/>
            <a:ext cx="12192000" cy="1887015"/>
          </a:xfrm>
        </p:spPr>
        <p:txBody>
          <a:bodyPr anchor="ctr"/>
          <a:lstStyle>
            <a:lvl1pPr algn="ctr">
              <a:defRPr sz="6000" b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0" y="3886805"/>
            <a:ext cx="12192000" cy="68477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737559" y="6324196"/>
            <a:ext cx="24544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zh-CN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Everything</a:t>
            </a:r>
            <a:r>
              <a:rPr lang="en-US" altLang="zh-CN" sz="16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f</a:t>
            </a:r>
            <a:r>
              <a:rPr lang="en-US" altLang="zh-CN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or</a:t>
            </a:r>
            <a:r>
              <a:rPr lang="en-US" altLang="zh-CN" sz="1600" b="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Memory</a:t>
            </a: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03" y="5798704"/>
            <a:ext cx="3811391" cy="504000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308958" y="6324196"/>
            <a:ext cx="18131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www.longsys.com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 userDrawn="1"/>
        </p:nvSpPr>
        <p:spPr>
          <a:xfrm>
            <a:off x="578817" y="1029857"/>
            <a:ext cx="373149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600" dirty="0">
                <a:solidFill>
                  <a:srgbClr val="D70000"/>
                </a:solidFill>
                <a:latin typeface="Impact" panose="020B0806030902050204" pitchFamily="34" charset="0"/>
              </a:rPr>
              <a:t>CONTENTS</a:t>
            </a:r>
          </a:p>
          <a:p>
            <a:pPr algn="r"/>
            <a:r>
              <a:rPr lang="zh-CN" altLang="en-US" sz="4000" b="1" dirty="0">
                <a:solidFill>
                  <a:srgbClr val="D7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4000" b="1" dirty="0">
              <a:solidFill>
                <a:srgbClr val="D7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-44701" y="881087"/>
            <a:ext cx="3636000" cy="72000"/>
            <a:chOff x="4717143" y="1103086"/>
            <a:chExt cx="3483428" cy="108000"/>
          </a:xfrm>
        </p:grpSpPr>
        <p:sp>
          <p:nvSpPr>
            <p:cNvPr id="23" name="矩形 22"/>
            <p:cNvSpPr/>
            <p:nvPr/>
          </p:nvSpPr>
          <p:spPr>
            <a:xfrm>
              <a:off x="4717143" y="1103086"/>
              <a:ext cx="1741714" cy="108000"/>
            </a:xfrm>
            <a:prstGeom prst="rect">
              <a:avLst/>
            </a:prstGeom>
            <a:solidFill>
              <a:srgbClr val="D7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6458857" y="1103086"/>
              <a:ext cx="1741714" cy="10800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5409299" y="881087"/>
            <a:ext cx="5715093" cy="5802100"/>
          </a:xfrm>
        </p:spPr>
        <p:txBody>
          <a:bodyPr/>
          <a:lstStyle>
            <a:lvl1pPr>
              <a:defRPr sz="3200" b="1"/>
            </a:lvl1pPr>
            <a:lvl2pPr>
              <a:defRPr sz="2800" b="1"/>
            </a:lvl2pPr>
            <a:lvl3pPr>
              <a:defRPr sz="2400" b="1"/>
            </a:lvl3pPr>
            <a:lvl4pPr>
              <a:defRPr sz="2000" b="1"/>
            </a:lvl4pPr>
            <a:lvl5pPr>
              <a:defRPr sz="18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-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992981" y="5993052"/>
            <a:ext cx="2206041" cy="576000"/>
          </a:xfrm>
          <a:prstGeom prst="rect">
            <a:avLst/>
          </a:prstGeom>
        </p:spPr>
      </p:pic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0" y="2709000"/>
            <a:ext cx="12192000" cy="1440000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445281" y="899747"/>
            <a:ext cx="3301441" cy="180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0" y="5958000"/>
            <a:ext cx="1650720" cy="900000"/>
          </a:xfrm>
          <a:prstGeom prst="rect">
            <a:avLst/>
          </a:prstGeom>
        </p:spPr>
      </p:pic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958747" y="1272824"/>
            <a:ext cx="10515600" cy="5235552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-标题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41280" y="5958000"/>
            <a:ext cx="1650720" cy="900000"/>
          </a:xfrm>
          <a:prstGeom prst="rect">
            <a:avLst/>
          </a:prstGeom>
        </p:spPr>
      </p:pic>
      <p:grpSp>
        <p:nvGrpSpPr>
          <p:cNvPr id="27" name="组合 2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2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3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-空白（有标识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541280" y="5958000"/>
            <a:ext cx="1650720" cy="90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-SS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/>
          <a:srcRect l="11687"/>
          <a:stretch>
            <a:fillRect/>
          </a:stretch>
        </p:blipFill>
        <p:spPr>
          <a:xfrm rot="10800000" flipV="1">
            <a:off x="3766383" y="1666159"/>
            <a:ext cx="4659235" cy="90000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0" y="2469677"/>
            <a:ext cx="12192000" cy="1918649"/>
          </a:xfrm>
        </p:spPr>
        <p:txBody>
          <a:bodyPr>
            <a:norm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992981" y="5993052"/>
            <a:ext cx="2206041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SD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6485" y="6398211"/>
            <a:ext cx="3165516" cy="540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958747" y="1272824"/>
            <a:ext cx="10515600" cy="5235552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SD-标题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6485" y="6398211"/>
            <a:ext cx="3165516" cy="540000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直接连接符 27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30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SD-空白（有标识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6485" y="6398211"/>
            <a:ext cx="3165516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-嵌入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68002" y="1819429"/>
            <a:ext cx="2655999" cy="72000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0" y="2554863"/>
            <a:ext cx="12192000" cy="1748276"/>
          </a:xfrm>
        </p:spPr>
        <p:txBody>
          <a:bodyPr>
            <a:norm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992981" y="5993052"/>
            <a:ext cx="2206041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嵌入式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9933" y="6464814"/>
            <a:ext cx="1332068" cy="361103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连接符 21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4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5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958747" y="1272824"/>
            <a:ext cx="10515600" cy="5235552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嵌入式-标题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9933" y="6464814"/>
            <a:ext cx="1332068" cy="361103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3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嵌入式-空白（有标识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9933" y="6464814"/>
            <a:ext cx="1332068" cy="361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-微存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89284" y="828536"/>
            <a:ext cx="1813432" cy="1800000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0" y="2343752"/>
            <a:ext cx="12192000" cy="2170496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992981" y="5993052"/>
            <a:ext cx="2206041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微存储-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9227" y="6034295"/>
            <a:ext cx="942984" cy="936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958747" y="1272824"/>
            <a:ext cx="10515600" cy="5235552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微存储-标题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9227" y="6034295"/>
            <a:ext cx="942984" cy="936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9227" y="6034295"/>
            <a:ext cx="942984" cy="93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移动存储-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0999" y="1680832"/>
            <a:ext cx="1570003" cy="900000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0" y="2555329"/>
            <a:ext cx="12192000" cy="174734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992981" y="5993052"/>
            <a:ext cx="2206041" cy="57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移动存储-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0461" y="6294921"/>
            <a:ext cx="987032" cy="56581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958747" y="1272824"/>
            <a:ext cx="10515600" cy="5235552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移动存储-标题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0461" y="6294921"/>
            <a:ext cx="987032" cy="565815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519547" y="1210452"/>
            <a:ext cx="11159836" cy="0"/>
            <a:chOff x="467591" y="1347357"/>
            <a:chExt cx="11159836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67591" y="1347357"/>
              <a:ext cx="737754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028709" y="1347357"/>
              <a:ext cx="3598718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连接符 19"/>
          <p:cNvCxnSpPr/>
          <p:nvPr userDrawn="1"/>
        </p:nvCxnSpPr>
        <p:spPr>
          <a:xfrm>
            <a:off x="831271" y="409919"/>
            <a:ext cx="0" cy="5403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541281" y="232067"/>
            <a:ext cx="1362321" cy="355704"/>
          </a:xfrm>
          <a:prstGeom prst="rect">
            <a:avLst/>
          </a:prstGeom>
        </p:spPr>
      </p:pic>
      <p:sp>
        <p:nvSpPr>
          <p:cNvPr id="22" name="标题 14"/>
          <p:cNvSpPr>
            <a:spLocks noGrp="1"/>
          </p:cNvSpPr>
          <p:nvPr>
            <p:ph type="title"/>
          </p:nvPr>
        </p:nvSpPr>
        <p:spPr>
          <a:xfrm>
            <a:off x="958747" y="212081"/>
            <a:ext cx="10515600" cy="936000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2">
                    <a:lumMod val="2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移动存储-空白（有标识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0461" y="6294921"/>
            <a:ext cx="987032" cy="5658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4"/>
          <p:cNvSpPr>
            <a:spLocks noGrp="1"/>
          </p:cNvSpPr>
          <p:nvPr>
            <p:ph type="title"/>
          </p:nvPr>
        </p:nvSpPr>
        <p:spPr>
          <a:xfrm>
            <a:off x="0" y="2366993"/>
            <a:ext cx="12192000" cy="2124015"/>
          </a:xfrm>
        </p:spPr>
        <p:txBody>
          <a:bodyPr>
            <a:noAutofit/>
          </a:bodyPr>
          <a:lstStyle>
            <a:lvl1pPr algn="ctr">
              <a:defRPr sz="8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1" y="293537"/>
            <a:ext cx="12192001" cy="6564464"/>
            <a:chOff x="-1" y="293537"/>
            <a:chExt cx="12192001" cy="6564464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3537"/>
              <a:ext cx="12192000" cy="65644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9182" y="5817202"/>
              <a:ext cx="3293637" cy="432000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5189406" y="6343246"/>
              <a:ext cx="16094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www.longsys.com</a:t>
              </a:r>
            </a:p>
          </p:txBody>
        </p:sp>
        <p:sp>
          <p:nvSpPr>
            <p:cNvPr id="16" name="文本框 15"/>
            <p:cNvSpPr txBox="1"/>
            <p:nvPr userDrawn="1"/>
          </p:nvSpPr>
          <p:spPr>
            <a:xfrm>
              <a:off x="-1" y="1443227"/>
              <a:ext cx="1219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0" dirty="0">
                  <a:solidFill>
                    <a:schemeClr val="bg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| Everything for Memory |</a:t>
              </a:r>
              <a:endParaRPr lang="zh-CN" altLang="en-US" sz="2400" b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2021/6/18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58313"/>
            <a:ext cx="10515600" cy="90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270146"/>
            <a:ext cx="10515600" cy="4944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816868A-DF4B-4E58-B325-CC080A4F0CDE}" type="datetimeFigureOut">
              <a:rPr lang="zh-CN" altLang="en-US" smtClean="0"/>
              <a:t>2021/6/18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EBA4A30-1235-48B1-878C-82976CF064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539750" algn="l" defTabSz="913765" rtl="0" eaLnBrk="1" latinLnBrk="0" hangingPunct="1">
        <a:lnSpc>
          <a:spcPct val="15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539750" algn="l" defTabSz="913765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539750" algn="l" defTabSz="913765" rtl="0" eaLnBrk="1" latinLnBrk="0" hangingPunct="1">
        <a:lnSpc>
          <a:spcPct val="150000"/>
        </a:lnSpc>
        <a:spcBef>
          <a:spcPts val="500"/>
        </a:spcBef>
        <a:buFont typeface="微软雅黑" panose="020B0503020204020204" pitchFamily="34" charset="-122"/>
        <a:buChar char="−"/>
        <a:defRPr sz="2000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539750" algn="l" defTabSz="913765" rtl="0" eaLnBrk="1" latinLnBrk="0" hangingPunct="1">
        <a:lnSpc>
          <a:spcPct val="150000"/>
        </a:lnSpc>
        <a:spcBef>
          <a:spcPts val="500"/>
        </a:spcBef>
        <a:buFont typeface="微软雅黑" panose="020B0503020204020204" pitchFamily="34" charset="-122"/>
        <a:buChar char="−"/>
        <a:defRPr sz="1800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539750" algn="l" defTabSz="913765" rtl="0" eaLnBrk="1" latinLnBrk="0" hangingPunct="1">
        <a:lnSpc>
          <a:spcPct val="150000"/>
        </a:lnSpc>
        <a:spcBef>
          <a:spcPts val="500"/>
        </a:spcBef>
        <a:buFont typeface="微软雅黑" panose="020B0503020204020204" pitchFamily="34" charset="-122"/>
        <a:buChar char="−"/>
        <a:defRPr sz="1600" kern="1200">
          <a:solidFill>
            <a:schemeClr val="bg2">
              <a:lumMod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" y="207"/>
            <a:ext cx="12191634" cy="68577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44" y="5794035"/>
            <a:ext cx="3932922" cy="52079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73835" y="6401124"/>
            <a:ext cx="1738425" cy="326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www.longsys.com</a:t>
            </a:r>
            <a:endParaRPr lang="zh-CN" altLang="en-US" sz="152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23544" y="6401124"/>
            <a:ext cx="2153154" cy="326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for Memory</a:t>
            </a:r>
            <a:endParaRPr lang="zh-CN" altLang="en-US" sz="152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 smtClean="0"/>
              <a:t>FA</a:t>
            </a:r>
            <a:r>
              <a:rPr lang="zh-CN" altLang="en-US" sz="4400" dirty="0" smtClean="0"/>
              <a:t>分析工具</a:t>
            </a: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r>
              <a:rPr lang="zh-CN" altLang="en-US" sz="4400" dirty="0" smtClean="0"/>
              <a:t>扫描部分详细设计</a:t>
            </a:r>
            <a:endParaRPr lang="zh-CN" altLang="en-US" sz="4400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0" y="3886805"/>
            <a:ext cx="12192000" cy="625928"/>
          </a:xfrm>
        </p:spPr>
        <p:txBody>
          <a:bodyPr/>
          <a:lstStyle/>
          <a:p>
            <a:r>
              <a:rPr lang="zh-CN" altLang="en-US" dirty="0"/>
              <a:t>部门：研发一部 嵌入式组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5623869" y="881085"/>
            <a:ext cx="6247289" cy="5561707"/>
          </a:xfrm>
        </p:spPr>
        <p:txBody>
          <a:bodyPr/>
          <a:lstStyle/>
          <a:p>
            <a:r>
              <a:rPr lang="zh-CN" altLang="en-US" dirty="0" smtClean="0"/>
              <a:t>项目简介</a:t>
            </a:r>
            <a:endParaRPr lang="en-US" altLang="zh-CN" dirty="0"/>
          </a:p>
          <a:p>
            <a:r>
              <a:rPr lang="en-US" altLang="zh-CN" dirty="0" smtClean="0"/>
              <a:t>RMA</a:t>
            </a:r>
            <a:r>
              <a:rPr lang="zh-CN" altLang="en-US" dirty="0" smtClean="0"/>
              <a:t>类型</a:t>
            </a:r>
          </a:p>
          <a:p>
            <a:r>
              <a:rPr lang="zh-CN" altLang="en-US" dirty="0" smtClean="0">
                <a:sym typeface="+mn-ea"/>
              </a:rPr>
              <a:t>主控硬件检测</a:t>
            </a:r>
            <a:endParaRPr lang="zh-CN" altLang="en-US" dirty="0" smtClean="0"/>
          </a:p>
          <a:p>
            <a:r>
              <a:rPr lang="en-US" altLang="zh-CN" dirty="0" smtClean="0"/>
              <a:t>FLASH</a:t>
            </a:r>
            <a:r>
              <a:rPr lang="zh-CN" altLang="en-US" dirty="0" smtClean="0"/>
              <a:t>时序检测</a:t>
            </a:r>
          </a:p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数据传输检测</a:t>
            </a:r>
            <a:endParaRPr lang="zh-CN" altLang="en-US" dirty="0" smtClean="0"/>
          </a:p>
          <a:p>
            <a:r>
              <a:rPr lang="en-US" altLang="zh-CN" dirty="0" smtClean="0"/>
              <a:t>CODE BLOCK</a:t>
            </a:r>
            <a:r>
              <a:rPr lang="zh-CN" altLang="en-US" dirty="0" smtClean="0"/>
              <a:t>检测</a:t>
            </a:r>
            <a:endParaRPr lang="en-US" altLang="zh-CN" dirty="0" smtClean="0"/>
          </a:p>
          <a:p>
            <a:r>
              <a:rPr lang="zh-CN" altLang="en-US" dirty="0" smtClean="0"/>
              <a:t>测试结果显示</a:t>
            </a:r>
          </a:p>
          <a:p>
            <a:endParaRPr lang="en-US" altLang="zh-CN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项目简介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0197" y="1778000"/>
            <a:ext cx="10172700" cy="397510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2000" b="0" u="none" dirty="0">
                <a:solidFill>
                  <a:srgbClr val="000000"/>
                </a:solidFill>
                <a:latin typeface="Arial" panose="020B0604020202020204" pitchFamily="34" charset="0"/>
                <a:ea typeface="宋体" charset="0"/>
              </a:rPr>
              <a:t>       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基于</a:t>
            </a:r>
            <a:r>
              <a:rPr lang="en-US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DM3720 LVTS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测试平台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，</a:t>
            </a:r>
            <a:r>
              <a:rPr lang="zh-CN" altLang="zh-CN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通过</a:t>
            </a:r>
            <a:r>
              <a:rPr lang="en-US" altLang="zh-CN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3720</a:t>
            </a:r>
            <a:r>
              <a:rPr lang="zh-CN" altLang="en-US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发送</a:t>
            </a:r>
            <a:r>
              <a:rPr lang="en-US" altLang="zh-CN" sz="2000" dirty="0" err="1" smtClean="0">
                <a:solidFill>
                  <a:srgbClr val="000000"/>
                </a:solidFill>
                <a:latin typeface="Calibri" charset="0"/>
                <a:ea typeface="宋体" charset="0"/>
              </a:rPr>
              <a:t>eMMC</a:t>
            </a:r>
            <a:r>
              <a:rPr lang="zh-CN" altLang="en-US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命令和私有命令，</a:t>
            </a:r>
            <a:r>
              <a:rPr lang="en-US" altLang="zh-CN" sz="2000" dirty="0" err="1" smtClean="0">
                <a:solidFill>
                  <a:srgbClr val="000000"/>
                </a:solidFill>
                <a:latin typeface="Calibri" charset="0"/>
                <a:ea typeface="宋体" charset="0"/>
              </a:rPr>
              <a:t>eMMC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运行</a:t>
            </a:r>
            <a:r>
              <a:rPr lang="en-US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Scan </a:t>
            </a:r>
            <a:r>
              <a:rPr lang="en-US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Code</a:t>
            </a:r>
            <a:r>
              <a:rPr lang="zh-CN" altLang="zh-CN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执行</a:t>
            </a:r>
            <a:r>
              <a:rPr lang="zh-CN" altLang="en-US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不同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私有命令的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校验流程</a:t>
            </a:r>
            <a:r>
              <a:rPr lang="zh-CN" altLang="en-US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，</a:t>
            </a:r>
            <a:r>
              <a:rPr lang="en-US" alt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3720</a:t>
            </a:r>
            <a:r>
              <a:rPr lang="zh-CN" altLang="en-US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通过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获取</a:t>
            </a:r>
            <a:r>
              <a:rPr lang="en-US" sz="20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eMMC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返回的信息，判断</a:t>
            </a:r>
            <a:r>
              <a:rPr lang="en-US" sz="20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eMMC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样品是否存在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异常</a:t>
            </a:r>
            <a:r>
              <a:rPr lang="zh-CN" altLang="en-US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并将测试结果的数据上传至</a:t>
            </a:r>
            <a:r>
              <a:rPr lang="en-US" altLang="zh-CN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LVTS</a:t>
            </a:r>
            <a:r>
              <a:rPr lang="zh-CN" altLang="en-US" sz="2000" dirty="0" smtClean="0">
                <a:solidFill>
                  <a:srgbClr val="000000"/>
                </a:solidFill>
                <a:latin typeface="Calibri" charset="0"/>
                <a:ea typeface="宋体" charset="0"/>
              </a:rPr>
              <a:t>服务器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。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通过这个工具，能够筛选一些明显属于硬件问题的</a:t>
            </a:r>
            <a:r>
              <a:rPr lang="en-US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RMA</a:t>
            </a:r>
            <a:r>
              <a:rPr lang="zh-CN" sz="20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，节省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人工筛选</a:t>
            </a:r>
            <a:r>
              <a:rPr lang="en-US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RMA</a:t>
            </a:r>
            <a:r>
              <a:rPr lang="zh-CN" sz="2000" b="0" u="none" dirty="0">
                <a:solidFill>
                  <a:srgbClr val="000000"/>
                </a:solidFill>
                <a:latin typeface="Calibri" charset="0"/>
                <a:ea typeface="宋体" charset="0"/>
                <a:cs typeface="+mn-cs"/>
              </a:rPr>
              <a:t>的成本。</a:t>
            </a:r>
            <a:endParaRPr lang="en-US" altLang="zh-CN" sz="2000" kern="1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/>
          <p:nvPr/>
        </p:nvSpPr>
        <p:spPr>
          <a:xfrm>
            <a:off x="961610" y="1872609"/>
            <a:ext cx="2682386" cy="430193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RMA</a:t>
            </a:r>
            <a:r>
              <a:rPr lang="zh-CN" altLang="en-US" dirty="0" smtClean="0"/>
              <a:t>类型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86521" y="1873329"/>
            <a:ext cx="8401723" cy="346246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non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kern="100" dirty="0" smtClean="0"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RMA</a:t>
            </a:r>
            <a:r>
              <a:rPr lang="zh-CN" altLang="en-US" sz="2000" kern="100" dirty="0" smtClean="0"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异常类型汇总：</a:t>
            </a:r>
            <a:endParaRPr lang="en-US" altLang="zh-CN" sz="2000" kern="100" dirty="0" smtClean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 smtClean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 smtClean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 smtClean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 smtClean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zh-CN" altLang="en-US" sz="2000" kern="100" dirty="0" smtClean="0"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4153137220"/>
              </p:ext>
            </p:extLst>
          </p:nvPr>
        </p:nvGraphicFramePr>
        <p:xfrm>
          <a:off x="1360648" y="2919347"/>
          <a:ext cx="8534400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问题类型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现象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主控无法响应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333</a:t>
                      </a:r>
                      <a:r>
                        <a:rPr lang="zh-CN" altLang="en-US"/>
                        <a:t>读卡器无法识别</a:t>
                      </a:r>
                      <a:r>
                        <a:rPr lang="en-US" altLang="zh-CN"/>
                        <a:t>eMMC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err="1" smtClean="0"/>
                        <a:t>eMMC</a:t>
                      </a:r>
                      <a:r>
                        <a:rPr lang="zh-CN" altLang="en-US" dirty="0" smtClean="0"/>
                        <a:t>引脚异常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 smtClean="0"/>
                        <a:t>读</a:t>
                      </a:r>
                      <a:r>
                        <a:rPr lang="en-US" altLang="zh-CN" dirty="0" smtClean="0"/>
                        <a:t>Flash ID</a:t>
                      </a:r>
                      <a:r>
                        <a:rPr lang="zh-CN" altLang="en-US" dirty="0" smtClean="0"/>
                        <a:t>失败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Flash</a:t>
                      </a:r>
                      <a:r>
                        <a:rPr lang="zh-CN" altLang="en-US" dirty="0"/>
                        <a:t>初始化失败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333</a:t>
                      </a:r>
                      <a:r>
                        <a:rPr lang="zh-CN" altLang="en-US" sz="1800">
                          <a:sym typeface="+mn-ea"/>
                        </a:rPr>
                        <a:t>读卡器数据传输卡死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 err="1"/>
                        <a:t>FlashCode</a:t>
                      </a:r>
                      <a:r>
                        <a:rPr lang="zh-CN" altLang="en-US" dirty="0"/>
                        <a:t>数据异常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普通读卡器无法上盘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/>
          <p:nvPr/>
        </p:nvSpPr>
        <p:spPr>
          <a:xfrm>
            <a:off x="961610" y="1872609"/>
            <a:ext cx="2682386" cy="430193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FA</a:t>
            </a:r>
            <a:r>
              <a:rPr lang="zh-CN" altLang="en-US" dirty="0" smtClean="0"/>
              <a:t>分析工具总流程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27704" y="2167576"/>
            <a:ext cx="9365226" cy="3407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63" y="2429681"/>
            <a:ext cx="11133677" cy="29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2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主控硬件检测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91098" y="1373825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b="1" kern="100" dirty="0" smtClean="0">
                <a:solidFill>
                  <a:schemeClr val="tx1"/>
                </a:solidFill>
                <a:effectLst/>
                <a:ea typeface="宋体" pitchFamily="2" charset="-122"/>
                <a:cs typeface="Times New Roman" panose="02020603050405020304" pitchFamily="18" charset="0"/>
              </a:rPr>
              <a:t>目的</a:t>
            </a:r>
            <a:r>
              <a:rPr lang="zh-CN" altLang="en-US" kern="100" dirty="0" smtClean="0">
                <a:solidFill>
                  <a:schemeClr val="tx1"/>
                </a:solidFill>
                <a:effectLst/>
                <a:ea typeface="宋体" pitchFamily="2" charset="-122"/>
                <a:cs typeface="Times New Roman" panose="02020603050405020304" pitchFamily="18" charset="0"/>
              </a:rPr>
              <a:t>：筛选主控硬件问题</a:t>
            </a:r>
            <a:endParaRPr lang="en-US" altLang="zh-CN" kern="100" dirty="0" smtClean="0">
              <a:solidFill>
                <a:schemeClr val="tx1"/>
              </a:solidFill>
              <a:effectLst/>
              <a:ea typeface="宋体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zh-CN" altLang="en-US" b="1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筛选范围</a:t>
            </a:r>
            <a:r>
              <a:rPr lang="zh-CN" altLang="en-US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：主控硬件，</a:t>
            </a:r>
            <a:r>
              <a:rPr lang="en-US" altLang="zh-CN" kern="100" dirty="0" err="1">
                <a:solidFill>
                  <a:prstClr val="black"/>
                </a:solidFill>
                <a:cs typeface="Times New Roman" panose="02020603050405020304" pitchFamily="18" charset="0"/>
              </a:rPr>
              <a:t>eMMC</a:t>
            </a:r>
            <a:r>
              <a:rPr lang="zh-CN" altLang="en-US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引脚，主控</a:t>
            </a:r>
            <a:r>
              <a:rPr lang="en-US" altLang="zh-CN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RAM</a:t>
            </a:r>
            <a:r>
              <a:rPr lang="zh-CN" altLang="en-US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等基础功能异常的</a:t>
            </a:r>
            <a:r>
              <a:rPr lang="en-US" altLang="zh-CN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RMA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chemeClr val="tx1"/>
              </a:solidFill>
              <a:effectLst/>
              <a:ea typeface="宋体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b="1" kern="100" dirty="0" smtClean="0">
                <a:solidFill>
                  <a:schemeClr val="tx1"/>
                </a:solidFill>
                <a:effectLst/>
                <a:ea typeface="宋体" pitchFamily="2" charset="-122"/>
                <a:cs typeface="Times New Roman" panose="02020603050405020304" pitchFamily="18" charset="0"/>
              </a:rPr>
              <a:t>实现方式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：通过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发送</a:t>
            </a:r>
            <a:r>
              <a:rPr lang="en-US" altLang="zh-CN" kern="100" dirty="0" err="1" smtClean="0">
                <a:solidFill>
                  <a:schemeClr val="tx1"/>
                </a:solidFill>
                <a:cs typeface="Times New Roman" panose="02020603050405020304" pitchFamily="18" charset="0"/>
              </a:rPr>
              <a:t>eMMC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标准命令检测主控基本操作是否异常，检测过程中每个流程均有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次重试机会，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次重试中检测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pass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，报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warning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次重试检测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Fail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需要返回错误码记录到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Log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且数据上传服务器。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	</a:t>
            </a:r>
            <a:endParaRPr lang="en-US" altLang="zh-CN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60171"/>
              </p:ext>
            </p:extLst>
          </p:nvPr>
        </p:nvGraphicFramePr>
        <p:xfrm>
          <a:off x="4574701" y="3684164"/>
          <a:ext cx="3042598" cy="2146300"/>
        </p:xfrm>
        <a:graphic>
          <a:graphicData uri="http://schemas.openxmlformats.org/drawingml/2006/table">
            <a:tbl>
              <a:tblPr/>
              <a:tblGrid>
                <a:gridCol w="1950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effectLst/>
                        </a:rPr>
                        <a:t>错误类型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b="1">
                          <a:solidFill>
                            <a:srgbClr val="FFFFFF"/>
                          </a:solidFill>
                          <a:effectLst/>
                        </a:rPr>
                        <a:t>错误码</a:t>
                      </a:r>
                      <a:endParaRPr lang="zh-CN" alt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主控异常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0x301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主控内部电源异常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0x302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引脚异常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0x303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主控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Ram</a:t>
                      </a:r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异常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0x304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solidFill>
                            <a:srgbClr val="000000"/>
                          </a:solidFill>
                          <a:effectLst/>
                        </a:rPr>
                        <a:t>主控寄存器配置异常</a:t>
                      </a:r>
                      <a:endParaRPr lang="zh-CN" alt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0x305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主控硬件检测—检测流程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425" y="1281432"/>
            <a:ext cx="5172075" cy="5433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11645" y="1411831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      </a:t>
            </a:r>
            <a:endParaRPr lang="zh-CN" altLang="en-US" dirty="0"/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811645" y="126532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        3720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平台可以通过下发配置决定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FA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工具执行过程中命令发送出错是否重试以及配置命令重试的次数，默认开启重试功能，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次重试。配置文件如下图所示：</a:t>
            </a:r>
            <a:endParaRPr lang="en-US" altLang="zh-CN" kern="1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zh-CN" altLang="en-US" dirty="0"/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8287" t="22045"/>
          <a:stretch/>
        </p:blipFill>
        <p:spPr>
          <a:xfrm>
            <a:off x="1884458" y="2918128"/>
            <a:ext cx="9242315" cy="120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5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11645" y="1411831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      </a:t>
            </a:r>
            <a:endParaRPr lang="zh-CN" altLang="en-US" dirty="0"/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811645" y="1225563"/>
            <a:ext cx="10809804" cy="5533045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just">
              <a:lnSpc>
                <a:spcPct val="200000"/>
              </a:lnSpc>
            </a:pP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        3720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平台定义的错误码采用组合分级错误码的方式，错误码类型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截取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如下图所示：</a:t>
            </a:r>
            <a:endParaRPr lang="en-US" altLang="zh-CN" kern="1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endParaRPr lang="en-US" altLang="zh-CN" kern="1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</a:pP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注：如果一个错误码为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0x10202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。则错误信息解析为：主控硬件检测流程出错，出错原因为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端检测到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CMD1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发送后接收到的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Response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出现了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CRC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错误。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b="10002"/>
          <a:stretch/>
        </p:blipFill>
        <p:spPr>
          <a:xfrm>
            <a:off x="2067340" y="1838214"/>
            <a:ext cx="7680959" cy="332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62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90606"/>
              </p:ext>
            </p:extLst>
          </p:nvPr>
        </p:nvGraphicFramePr>
        <p:xfrm>
          <a:off x="811645" y="1411831"/>
          <a:ext cx="10809804" cy="5020774"/>
        </p:xfrm>
        <a:graphic>
          <a:graphicData uri="http://schemas.openxmlformats.org/drawingml/2006/table">
            <a:tbl>
              <a:tblPr/>
              <a:tblGrid>
                <a:gridCol w="921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1682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342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CMD61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eMMC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重新断电后上电，延时一定时间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(500ms);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CMD61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、若仍出错循环第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直到重试次数并返回错误码并终止测试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69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CMD61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eMMC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重新断电后上电，延时一定时间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(500ms);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CMD61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、若仍出错循环第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直到重试次数并返回错误码并终止测试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1307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eMMC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重新断电后上电，延时一定时间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(500ms)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后进入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操作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过程仍出错循环第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直到重试次数并返回错误码并终止测试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7003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endParaRPr lang="zh-CN" alt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eMMC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重新断电后上电，延时一定时间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(500ms)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后进入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操作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过程仍出错循环第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直到重试次数并返回错误码并终止测试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3669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时间超时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eMMC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重新断电后上电，延时一定时间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(500ms)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后进入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完成则进入下一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、在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2s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内仍没有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完成，则循环第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直到重试次数并返回错误码并终止测试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649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22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12487"/>
              </p:ext>
            </p:extLst>
          </p:nvPr>
        </p:nvGraphicFramePr>
        <p:xfrm>
          <a:off x="811645" y="1403365"/>
          <a:ext cx="10809804" cy="3617368"/>
        </p:xfrm>
        <a:graphic>
          <a:graphicData uri="http://schemas.openxmlformats.org/drawingml/2006/table">
            <a:tbl>
              <a:tblPr/>
              <a:tblGrid>
                <a:gridCol w="921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1682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808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CMD19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981306"/>
                  </a:ext>
                </a:extLst>
              </a:tr>
              <a:tr h="642182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CMD19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789598"/>
                  </a:ext>
                </a:extLst>
              </a:tr>
              <a:tr h="691288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通过发送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获取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命令的状态检测到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200816"/>
                  </a:ext>
                </a:extLst>
              </a:tr>
              <a:tr h="639264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896407"/>
                  </a:ext>
                </a:extLst>
              </a:tr>
              <a:tr h="618066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端检测到数据传输过程中出现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错误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405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6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07761"/>
              </p:ext>
            </p:extLst>
          </p:nvPr>
        </p:nvGraphicFramePr>
        <p:xfrm>
          <a:off x="763382" y="1502207"/>
          <a:ext cx="10906330" cy="4098236"/>
        </p:xfrm>
        <a:graphic>
          <a:graphicData uri="http://schemas.openxmlformats.org/drawingml/2006/table">
            <a:tbl>
              <a:tblPr/>
              <a:tblGrid>
                <a:gridCol w="9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1868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982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CMD14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017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CMD14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934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通过发送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获取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命令的状态检测到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467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端检测到数据传输过程中出现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错误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78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CMD14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写入的数据与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CMD19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读出的数据不一致</a:t>
                      </a:r>
                      <a:endParaRPr 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在不同位宽模式下，通过写入数据与读出数据的每一位比较，分析出哪个</a:t>
                      </a:r>
                      <a:r>
                        <a:rPr lang="en-US" altLang="zh-CN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</a:t>
                      </a:r>
                      <a:r>
                        <a:rPr lang="zh-CN" altLang="en-US" sz="1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出现异常。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981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20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13457"/>
              </p:ext>
            </p:extLst>
          </p:nvPr>
        </p:nvGraphicFramePr>
        <p:xfrm>
          <a:off x="763382" y="1549914"/>
          <a:ext cx="10906330" cy="3580076"/>
        </p:xfrm>
        <a:graphic>
          <a:graphicData uri="http://schemas.openxmlformats.org/drawingml/2006/table">
            <a:tbl>
              <a:tblPr/>
              <a:tblGrid>
                <a:gridCol w="898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1868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982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CMD10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017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CMD10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934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通过发送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获取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命令的状态检测到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467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端检测到数据传输过程中出现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错误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、重新发送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，若发送成功则进入下一流程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、若在循环次数内发送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都出错，返回错误码并终止测试。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77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740084" y="1216549"/>
            <a:ext cx="10809804" cy="464381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平台发送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CMD25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执行私有命令相关操作，发送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CMD18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接收</a:t>
            </a:r>
            <a:r>
              <a:rPr lang="en-US" altLang="zh-CN" kern="100" dirty="0" err="1" smtClean="0">
                <a:solidFill>
                  <a:schemeClr val="tx1"/>
                </a:solidFill>
                <a:cs typeface="Times New Roman" panose="02020603050405020304" pitchFamily="18" charset="0"/>
              </a:rPr>
              <a:t>eMMC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端执行完命令后返回的数据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。读写命令均在默认速度下发送。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62937"/>
              </p:ext>
            </p:extLst>
          </p:nvPr>
        </p:nvGraphicFramePr>
        <p:xfrm>
          <a:off x="763382" y="2404952"/>
          <a:ext cx="10906330" cy="3580076"/>
        </p:xfrm>
        <a:graphic>
          <a:graphicData uri="http://schemas.openxmlformats.org/drawingml/2006/table">
            <a:tbl>
              <a:tblPr/>
              <a:tblGrid>
                <a:gridCol w="905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1868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982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CMD25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017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CMD25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934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CMD25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通过发送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获取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CMD25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命令的状态检测到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CMD25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467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CMD25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端检测到数据传输过程中出现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错误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7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3720</a:t>
            </a:r>
            <a:r>
              <a:rPr lang="zh-CN" altLang="en-US" dirty="0" smtClean="0"/>
              <a:t>平台异常处理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317642"/>
              </p:ext>
            </p:extLst>
          </p:nvPr>
        </p:nvGraphicFramePr>
        <p:xfrm>
          <a:off x="763382" y="1999435"/>
          <a:ext cx="10906330" cy="3574429"/>
        </p:xfrm>
        <a:graphic>
          <a:graphicData uri="http://schemas.openxmlformats.org/drawingml/2006/table">
            <a:tbl>
              <a:tblPr/>
              <a:tblGrid>
                <a:gridCol w="905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1868">
                  <a:extLst>
                    <a:ext uri="{9D8B030D-6E8A-4147-A177-3AD203B41FA5}">
                      <a16:colId xmlns:a16="http://schemas.microsoft.com/office/drawing/2014/main" val="776546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命令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号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 出错类型</a:t>
                      </a:r>
                      <a:endParaRPr lang="zh-CN" alt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zh-CN" altLang="en-US" sz="1400" b="1" dirty="0" smtClean="0">
                          <a:solidFill>
                            <a:srgbClr val="FFFFFF"/>
                          </a:solidFill>
                          <a:effectLst/>
                        </a:rPr>
                        <a:t>出错处理</a:t>
                      </a:r>
                      <a:endParaRPr lang="zh-CN" altLang="en-US" b="1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398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CMD18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301742"/>
                  </a:ext>
                </a:extLst>
              </a:tr>
              <a:tr h="62815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</a:rPr>
                        <a:t>CMD18</a:t>
                      </a:r>
                      <a:endParaRPr lang="zh-CN" altLang="en-US" sz="1400" dirty="0" smtClean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产生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861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CMD18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通过发送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CMD13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获取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CMD18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命令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的状态检测到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出错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104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CMD18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Timeout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153"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CMD18</a:t>
                      </a:r>
                      <a:endParaRPr lang="zh-CN" altLang="en-US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3720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端检测到数据传输过程中出现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错误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、延时一定时间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(1s)</a:t>
                      </a:r>
                      <a:r>
                        <a:rPr lang="zh-CN" altLang="en-US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后重试</a:t>
                      </a:r>
                      <a:r>
                        <a:rPr lang="en-US" altLang="zh-CN" sz="1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超过重试次数则退出测试并返回错误码。</a:t>
                      </a:r>
                      <a:endParaRPr lang="en-US" altLang="zh-CN" sz="140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83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zh-CN" altLang="en-US" dirty="0">
                <a:sym typeface="+mn-ea"/>
              </a:rPr>
              <a:t>—</a:t>
            </a:r>
            <a:r>
              <a:rPr lang="zh-CN" altLang="en-US" dirty="0" smtClean="0"/>
              <a:t>私有命令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b="1" kern="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说明</a:t>
            </a:r>
            <a:r>
              <a:rPr lang="zh-CN" altLang="en-US" kern="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：</a:t>
            </a:r>
            <a:endParaRPr lang="en-US" altLang="zh-CN" kern="1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dirty="0" smtClean="0">
                <a:sym typeface="+mn-ea"/>
              </a:rPr>
              <a:t>FLASH</a:t>
            </a:r>
            <a:r>
              <a:rPr lang="zh-CN" altLang="en-US" kern="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时序检测、</a:t>
            </a:r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数据传输检测和</a:t>
            </a:r>
            <a:r>
              <a:rPr lang="en-US" altLang="zh-CN" dirty="0" smtClean="0">
                <a:sym typeface="+mn-ea"/>
              </a:rPr>
              <a:t>CODE BLOCK</a:t>
            </a:r>
            <a:r>
              <a:rPr lang="zh-CN" altLang="en-US" dirty="0" smtClean="0">
                <a:sym typeface="+mn-ea"/>
              </a:rPr>
              <a:t>检测均通过</a:t>
            </a:r>
            <a:r>
              <a:rPr lang="en-US" altLang="zh-CN" dirty="0" smtClean="0">
                <a:sym typeface="+mn-ea"/>
              </a:rPr>
              <a:t>3720</a:t>
            </a:r>
            <a:r>
              <a:rPr lang="zh-CN" altLang="en-US" dirty="0" smtClean="0">
                <a:sym typeface="+mn-ea"/>
              </a:rPr>
              <a:t>发私有命令及</a:t>
            </a:r>
            <a:r>
              <a:rPr lang="en-US" altLang="zh-CN" dirty="0" err="1" smtClean="0">
                <a:sym typeface="+mn-ea"/>
              </a:rPr>
              <a:t>eMMC</a:t>
            </a:r>
            <a:r>
              <a:rPr lang="zh-CN" altLang="en-US" dirty="0" smtClean="0">
                <a:sym typeface="+mn-ea"/>
              </a:rPr>
              <a:t>执行私有命令实现。</a:t>
            </a:r>
            <a:endParaRPr lang="zh-CN" altLang="en-US" kern="1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kern="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私有命令主要数据结构：</a:t>
            </a:r>
            <a:endParaRPr lang="en-US" altLang="zh-CN" kern="1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					</a:t>
            </a:r>
            <a:endParaRPr lang="zh-CN" altLang="en-US" kern="1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zh-CN" altLang="en-US" kern="100" dirty="0" smtClean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1227390886"/>
              </p:ext>
            </p:extLst>
          </p:nvPr>
        </p:nvGraphicFramePr>
        <p:xfrm>
          <a:off x="958747" y="3302129"/>
          <a:ext cx="3237528" cy="1105750"/>
        </p:xfrm>
        <a:graphic>
          <a:graphicData uri="http://schemas.openxmlformats.org/drawingml/2006/table">
            <a:tbl>
              <a:tblPr/>
              <a:tblGrid>
                <a:gridCol w="84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245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</a:rPr>
                        <a:t>发送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</a:rPr>
                        <a:t>偏移（</a:t>
                      </a:r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charset="0"/>
                        </a:rPr>
                        <a:t>Byte</a:t>
                      </a: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</a:rPr>
                        <a:t>）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变量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VCMD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935"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参数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1841176554"/>
              </p:ext>
            </p:extLst>
          </p:nvPr>
        </p:nvGraphicFramePr>
        <p:xfrm>
          <a:off x="4807974" y="3302129"/>
          <a:ext cx="3701845" cy="733005"/>
        </p:xfrm>
        <a:graphic>
          <a:graphicData uri="http://schemas.openxmlformats.org/drawingml/2006/table">
            <a:tbl>
              <a:tblPr/>
              <a:tblGrid>
                <a:gridCol w="819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</a:rPr>
                        <a:t>接收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  <a:sym typeface="+mn-ea"/>
                        </a:rPr>
                        <a:t>偏移（</a:t>
                      </a:r>
                      <a:r>
                        <a:rPr lang="en-US" altLang="zh-CN" sz="1800" b="1" dirty="0" smtClean="0">
                          <a:solidFill>
                            <a:srgbClr val="FFFFFF"/>
                          </a:solidFill>
                          <a:latin typeface="Calibri" charset="0"/>
                          <a:sym typeface="+mn-ea"/>
                        </a:rPr>
                        <a:t>Byte</a:t>
                      </a:r>
                      <a:r>
                        <a:rPr lang="zh-CN" altLang="en-US" sz="1800" b="1" dirty="0" smtClean="0">
                          <a:solidFill>
                            <a:srgbClr val="FFFFFF"/>
                          </a:solidFill>
                          <a:latin typeface="Calibri" charset="0"/>
                          <a:sym typeface="+mn-ea"/>
                        </a:rPr>
                        <a:t>）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变量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45">
                <a:tc vMerge="1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  <a:r>
                        <a:rPr lang="zh-CN" altLang="en-US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error code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3" y="4453988"/>
            <a:ext cx="9915525" cy="1990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zh-CN" altLang="en-US" dirty="0">
                <a:sym typeface="+mn-ea"/>
              </a:rPr>
              <a:t>—</a:t>
            </a:r>
            <a:r>
              <a:rPr lang="en-US" altLang="zh-CN" dirty="0" smtClean="0"/>
              <a:t>Flash</a:t>
            </a:r>
            <a:r>
              <a:rPr lang="zh-CN" altLang="en-US" dirty="0" smtClean="0"/>
              <a:t>厂商识别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目的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：识别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eMMC</a:t>
            </a:r>
            <a:r>
              <a:rPr b="0" u="none" dirty="0"/>
              <a:t> 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的所属厂家，确认后续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的命令操作。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</a:t>
            </a: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VCMD 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xD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实现方式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：发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复位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主控频率设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120M 2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分频，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SDR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下发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读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ID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命令，并通过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ID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第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个字节区分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厂家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私有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命令返回的数据中第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2-7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字节表示</a:t>
            </a:r>
            <a:r>
              <a:rPr lang="en-US" altLang="zh-CN" kern="100" dirty="0" err="1">
                <a:solidFill>
                  <a:schemeClr val="tx1"/>
                </a:solidFill>
                <a:cs typeface="Times New Roman" panose="02020603050405020304" pitchFamily="18" charset="0"/>
              </a:rPr>
              <a:t>FlashID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Log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中需要记录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Flash ID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b="1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b="1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异常报错：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①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全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error 0x311	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  <a:sym typeface="+mn-ea"/>
              </a:rPr>
              <a:t>②</a:t>
            </a:r>
            <a:r>
              <a:rPr lang="en-US" altLang="zh-CN" kern="100" dirty="0" smtClean="0">
                <a:solidFill>
                  <a:prstClr val="black"/>
                </a:solidFill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en-US" kern="100" dirty="0" smtClean="0">
                <a:solidFill>
                  <a:prstClr val="black"/>
                </a:solidFill>
                <a:ea typeface="Arial" panose="020B0604020202020204" pitchFamily="34" charset="0"/>
                <a:cs typeface="Times New Roman" panose="02020603050405020304" pitchFamily="18" charset="0"/>
                <a:sym typeface="+mn-ea"/>
              </a:rPr>
              <a:t>与</a:t>
            </a:r>
            <a:r>
              <a:rPr lang="zh-CN" altLang="en-US" kern="100" dirty="0" smtClean="0">
                <a:solidFill>
                  <a:prstClr val="black"/>
                </a:solidFill>
                <a:latin typeface="宋体" charset="0"/>
                <a:ea typeface="宋体" charset="0"/>
                <a:cs typeface="Times New Roman" panose="02020603050405020304" pitchFamily="18" charset="0"/>
                <a:sym typeface="+mn-ea"/>
              </a:rPr>
              <a:t>以下厂商均不匹配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0x312</a:t>
            </a:r>
            <a:endParaRPr lang="en-US" altLang="zh-CN" kern="100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458257"/>
              </p:ext>
            </p:extLst>
          </p:nvPr>
        </p:nvGraphicFramePr>
        <p:xfrm>
          <a:off x="1450942" y="5574619"/>
          <a:ext cx="9594215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ID</a:t>
                      </a:r>
                      <a:r>
                        <a:rPr lang="zh-CN" altLang="en-US" dirty="0" smtClean="0"/>
                        <a:t>第</a:t>
                      </a:r>
                      <a:r>
                        <a:rPr lang="en-US" altLang="zh-CN" dirty="0" smtClean="0"/>
                        <a:t>0</a:t>
                      </a:r>
                      <a:r>
                        <a:rPr lang="zh-CN" altLang="en-US" dirty="0" smtClean="0"/>
                        <a:t>字节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0xEC</a:t>
                      </a:r>
                      <a:endParaRPr lang="zh-CN" altLang="en-US" dirty="0" smtClean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0x98</a:t>
                      </a:r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0x45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0xAD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0x2C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0x89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0x9B</a:t>
                      </a:r>
                      <a:endParaRPr lang="zh-CN" altLang="en-US" dirty="0"/>
                    </a:p>
                  </a:txBody>
                  <a:tcPr marL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Flash</a:t>
                      </a:r>
                      <a:r>
                        <a:rPr lang="zh-CN" altLang="en-US" dirty="0" smtClean="0"/>
                        <a:t>厂家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Samsung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Toshiba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Sandisk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Hynix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Micron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Intel</a:t>
                      </a:r>
                      <a:endParaRPr lang="zh-CN" altLang="en-US" dirty="0"/>
                    </a:p>
                  </a:txBody>
                  <a:tcPr marL="90000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YMTC</a:t>
                      </a:r>
                      <a:endParaRPr lang="zh-CN" altLang="en-US" dirty="0"/>
                    </a:p>
                  </a:txBody>
                  <a:tcPr marL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98" y="4338509"/>
            <a:ext cx="10916054" cy="10818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zh-CN" altLang="en-US" dirty="0">
                <a:sym typeface="+mn-ea"/>
              </a:rPr>
              <a:t>—</a:t>
            </a:r>
            <a:r>
              <a:rPr lang="zh-CN" altLang="en-US" dirty="0"/>
              <a:t>总线</a:t>
            </a:r>
            <a:r>
              <a:rPr lang="zh-CN" altLang="en-US" dirty="0" smtClean="0"/>
              <a:t>检测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altLang="en-US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目的</a:t>
            </a:r>
            <a:r>
              <a:rPr lang="zh-CN" altLang="en-US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zh-CN" altLang="en-US" sz="180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检测样品设置不同总线模式下，对</a:t>
            </a:r>
            <a:r>
              <a:rPr lang="en-US" altLang="zh-CN" sz="180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altLang="en-US" sz="180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进行操作时，样品是否存在异常。</a:t>
            </a:r>
            <a:endParaRPr lang="zh-CN" sz="1800" b="1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私有命令：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VCMD 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endParaRPr lang="zh-CN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实现方式</a:t>
            </a:r>
            <a:r>
              <a:rPr lang="zh-CN" altLang="zh-CN" b="1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主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控频率设为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120M 2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分频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通过</a:t>
            </a:r>
            <a:r>
              <a:rPr lang="zh-CN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私有命令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传参决定总线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模式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。总线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模式设置完成后发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查询命令，通过查询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状态成功与否来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判断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该模式下对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操作是否异常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，从而判断总线是否异常。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116" y="3815831"/>
            <a:ext cx="7787868" cy="28507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zh-CN" altLang="en-US" dirty="0">
                <a:sym typeface="+mn-ea"/>
              </a:rPr>
              <a:t>—</a:t>
            </a:r>
            <a:r>
              <a:rPr lang="zh-CN" altLang="en-US" dirty="0"/>
              <a:t>总线</a:t>
            </a:r>
            <a:r>
              <a:rPr lang="zh-CN" altLang="en-US" dirty="0" smtClean="0"/>
              <a:t>检测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altLang="zh-CN" b="1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DM3720</a:t>
            </a:r>
            <a:r>
              <a:rPr lang="zh-CN" altLang="en-US" b="1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平台处理</a:t>
            </a:r>
            <a:r>
              <a:rPr lang="zh-CN" altLang="en-US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设置</a:t>
            </a:r>
            <a:r>
              <a:rPr lang="en-US" altLang="zh-CN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eMMC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进入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HS200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模式，发送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0xD2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私有命令对应不同参数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(0x01, 0x02, 0x03, 0x04) 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分别进入不同总线模式。</a:t>
            </a:r>
            <a:r>
              <a:rPr lang="en-US" altLang="zh-CN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eMMC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端检测总线是否异常后，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3720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端会接收到</a:t>
            </a:r>
            <a:r>
              <a:rPr lang="en-US" altLang="zh-CN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eMMC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返回的检测结果，通过返回的数据包是否出现以下错误码来判断总线测试的结果，如果接收到错误码，测试将被终止并返回对应的错误码。</a:t>
            </a: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3819522904"/>
              </p:ext>
            </p:extLst>
          </p:nvPr>
        </p:nvGraphicFramePr>
        <p:xfrm>
          <a:off x="4391094" y="4010769"/>
          <a:ext cx="3713911" cy="1839810"/>
        </p:xfrm>
        <a:graphic>
          <a:graphicData uri="http://schemas.openxmlformats.org/drawingml/2006/table">
            <a:tbl>
              <a:tblPr/>
              <a:tblGrid>
                <a:gridCol w="687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Calibri" charset="0"/>
                        </a:rPr>
                        <a:t>参数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总线模式</a:t>
                      </a:r>
                      <a:endParaRPr lang="en-US" altLang="en-US" sz="1800" b="1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charset="0"/>
                          <a:cs typeface="Calibri" charset="0"/>
                        </a:rPr>
                        <a:t>error code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0x01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SDR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0x321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0x02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DDR1.0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0x322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0x03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DDR1.0+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</a:rPr>
                        <a:t>开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DQSn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0x323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0x04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DDR2.0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0x324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46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en-US" altLang="zh-CN" dirty="0" smtClean="0"/>
              <a:t>—</a:t>
            </a:r>
            <a:r>
              <a:rPr lang="zh-CN" altLang="en-US" dirty="0">
                <a:sym typeface="+mn-ea"/>
              </a:rPr>
              <a:t>总线检测（</a:t>
            </a:r>
            <a:r>
              <a:rPr lang="en-US" altLang="zh-CN" dirty="0">
                <a:sym typeface="+mn-ea"/>
              </a:rPr>
              <a:t>SDR</a:t>
            </a:r>
            <a:r>
              <a:rPr lang="zh-CN" altLang="en-US" dirty="0">
                <a:sym typeface="+mn-ea"/>
              </a:rPr>
              <a:t>）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、涉及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CE0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CMD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ALE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RE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WE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Flash 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IO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、发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FF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命令后查硬件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RB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后，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70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命令后返回状态值是否为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。若非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error 0x321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48" y="3944838"/>
            <a:ext cx="4846423" cy="24797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754" y="3840648"/>
            <a:ext cx="4540546" cy="2583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en-US" altLang="zh-CN" dirty="0" smtClean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总线检测（</a:t>
            </a:r>
            <a:r>
              <a:rPr lang="en-US" altLang="zh-CN" dirty="0">
                <a:sym typeface="+mn-ea"/>
              </a:rPr>
              <a:t>DDR1.0</a:t>
            </a:r>
            <a:r>
              <a:rPr lang="zh-CN" altLang="en-US" dirty="0">
                <a:sym typeface="+mn-ea"/>
              </a:rPr>
              <a:t>）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、涉及到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CMD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ALE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RE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WE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IO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charset="0"/>
                <a:ea typeface="宋体" charset="0"/>
                <a:cs typeface="Times New Roman" panose="02020603050405020304" pitchFamily="18" charset="0"/>
              </a:rPr>
              <a:t>DQS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</a:p>
          <a:p>
            <a:pPr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、根据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厂商，发相应的开启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DDR1.0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的命令，并配置主控端。</a:t>
            </a:r>
          </a:p>
          <a:p>
            <a:pPr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70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命令判断状态是否为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，如果不是报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error 0x322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007" y="3578977"/>
            <a:ext cx="4870450" cy="28455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en-US" altLang="zh-CN" dirty="0" smtClean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总线检测（</a:t>
            </a:r>
            <a:r>
              <a:rPr lang="en-US" altLang="zh-CN" dirty="0" smtClean="0"/>
              <a:t>DDR1.0+DQSn</a:t>
            </a:r>
            <a:r>
              <a:rPr lang="zh-CN" altLang="en-US" dirty="0" smtClean="0"/>
              <a:t>）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、涉及到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CMD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ALE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RE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WE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IO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DQS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charset="0"/>
                <a:ea typeface="宋体" charset="0"/>
                <a:cs typeface="Times New Roman" panose="02020603050405020304" pitchFamily="18" charset="0"/>
              </a:rPr>
              <a:t>DQSn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</a:p>
          <a:p>
            <a:pPr lvl="0"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、根据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厂商，发相应的开启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DDR1.0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的命令，并使能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DQSn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信号线，并配置主控端。</a:t>
            </a:r>
          </a:p>
          <a:p>
            <a:pPr lvl="0" algn="l">
              <a:lnSpc>
                <a:spcPct val="200000"/>
              </a:lnSpc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70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命令判断状态是否为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，如果不是报</a:t>
            </a:r>
            <a:r>
              <a:rPr lang="en-US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error 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0x323</a:t>
            </a:r>
            <a:r>
              <a:rPr lang="zh-CN" altLang="en-US" kern="1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574" y="3374140"/>
            <a:ext cx="5079773" cy="29261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时序检测</a:t>
            </a:r>
            <a:r>
              <a:rPr lang="en-US" altLang="zh-CN" dirty="0" smtClean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总线检测（</a:t>
            </a:r>
            <a:r>
              <a:rPr lang="en-US" altLang="zh-CN" dirty="0">
                <a:sym typeface="+mn-ea"/>
              </a:rPr>
              <a:t>DDR2.0</a:t>
            </a:r>
            <a:r>
              <a:rPr lang="zh-CN" altLang="en-US" dirty="0">
                <a:sym typeface="+mn-ea"/>
              </a:rPr>
              <a:t>）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、涉及到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CMD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ALE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RE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sng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charset="0"/>
                <a:ea typeface="宋体" charset="0"/>
                <a:cs typeface="Times New Roman" panose="02020603050405020304" pitchFamily="18" charset="0"/>
              </a:rPr>
              <a:t>REn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WE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IO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DQS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DQSn</a:t>
            </a:r>
            <a:r>
              <a:rPr lang="zh-CN" alt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、根据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厂商，发相应的开启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DDR2.0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的命令，并配置主控端。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、发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70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命令判断状态是否为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，如果不是报</a:t>
            </a:r>
            <a:r>
              <a:rPr lang="en-US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error 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0x324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851" y="3447337"/>
            <a:ext cx="4354928" cy="284489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47" y="3447337"/>
            <a:ext cx="4667353" cy="2800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数据传输检测—</a:t>
            </a:r>
            <a:r>
              <a:rPr lang="en-US" altLang="zh-CN" dirty="0" smtClean="0">
                <a:sym typeface="+mn-ea"/>
              </a:rPr>
              <a:t>Flash IO</a:t>
            </a:r>
            <a:r>
              <a:rPr lang="zh-CN" altLang="en-US" dirty="0" smtClean="0">
                <a:sym typeface="+mn-ea"/>
              </a:rPr>
              <a:t>检测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altLang="en-US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目的：</a:t>
            </a:r>
            <a:r>
              <a:rPr lang="zh-CN" altLang="en-US" sz="180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检测</a:t>
            </a:r>
            <a:r>
              <a:rPr lang="en-US" altLang="zh-CN" sz="180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IO</a:t>
            </a:r>
            <a:r>
              <a:rPr lang="zh-CN" altLang="en-US" sz="180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总线是否异常</a:t>
            </a:r>
            <a:endParaRPr lang="zh-CN" sz="1800" b="1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私有命令：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VCMD 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不同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主控频率下以及不同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Flash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时序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分别进行执行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100</a:t>
            </a:r>
            <a:r>
              <a:rPr lang="en-US" sz="1800" b="0" u="none" dirty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 Cycle</a:t>
            </a:r>
            <a:r>
              <a:rPr lang="zh-CN" sz="1800" b="0" u="none" dirty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数</a:t>
            </a:r>
            <a:r>
              <a:rPr lang="en-US" sz="1800" b="0" u="none" dirty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Cache Register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操作。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SLC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模式下开随机化和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，发</a:t>
            </a:r>
            <a:r>
              <a:rPr lang="en-US" alt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80H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—</a:t>
            </a:r>
            <a:r>
              <a:rPr lang="en-US" alt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Addr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，开启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DMA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将数据写入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Flash Cache Register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、发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05H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—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Addr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—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命令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，开启</a:t>
            </a:r>
            <a:r>
              <a:rPr lang="en-US" alt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DMA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将数据读出到</a:t>
            </a:r>
            <a:r>
              <a:rPr lang="en-US" alt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Buff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匹配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，出现数据不匹配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报</a:t>
            </a:r>
            <a:r>
              <a:rPr lang="en-US" sz="1800" b="0" u="none" dirty="0" smtClean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error</a:t>
            </a:r>
            <a:r>
              <a:rPr lang="zh-CN" altLang="en-US" dirty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altLang="zh-CN" sz="1800" b="0" u="none" dirty="0" smtClean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4</a:t>
            </a:r>
            <a:r>
              <a:rPr lang="zh-CN" altLang="en-US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、匹配数据采用</a:t>
            </a:r>
            <a:r>
              <a:rPr lang="zh-CN" altLang="en-US" kern="100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主</a:t>
            </a:r>
            <a:r>
              <a:rPr lang="zh-CN" altLang="en-US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控的</a:t>
            </a:r>
            <a:r>
              <a:rPr lang="en-US" altLang="zh-CN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PFE</a:t>
            </a:r>
            <a:r>
              <a:rPr lang="zh-CN" altLang="en-US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搜索实现，若搜到的最大最小值为</a:t>
            </a:r>
            <a:r>
              <a:rPr lang="en-US" altLang="zh-CN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Buff</a:t>
            </a:r>
            <a:r>
              <a:rPr lang="zh-CN" altLang="en-US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开头，且</a:t>
            </a:r>
            <a:r>
              <a:rPr lang="en-US" altLang="zh-CN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Buff</a:t>
            </a:r>
            <a:r>
              <a:rPr lang="zh-CN" altLang="en-US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开头的值匹配，则属于数据匹配，否则数据不匹配。</a:t>
            </a:r>
            <a:endParaRPr lang="en-US" altLang="zh-CN" sz="1800" b="0" u="none" kern="100" dirty="0">
              <a:solidFill>
                <a:srgbClr val="2E75B6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数据传输检测—</a:t>
            </a:r>
            <a:r>
              <a:rPr lang="en-US" altLang="zh-CN" dirty="0" smtClean="0">
                <a:sym typeface="+mn-ea"/>
              </a:rPr>
              <a:t>Flash IO</a:t>
            </a:r>
            <a:r>
              <a:rPr lang="zh-CN" altLang="en-US" dirty="0" smtClean="0">
                <a:sym typeface="+mn-ea"/>
              </a:rPr>
              <a:t>检测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</a:rPr>
              <a:t>DM3720平台处理：设置eMMC进入HS200模式，发送0xD3私有命令对应不同参数(0x01, 0x02, 0x03, 0x04) 进入不同总线模式。eMMC端检测Flash IO是否异常后，3720端会接收到eMMC返回的检测结果，通过返回的数据包是否出现以下错误码来判断Flash IO检测的结果，如果接收到错误码，测试将被终止并返回对应的错误码。3720平台会设置一个超时值，D3私有命令执行过程中出现数据传输超时也会报Error</a:t>
            </a:r>
            <a:endParaRPr lang="en-US" altLang="zh-CN" sz="1800" b="0" u="none" kern="100" dirty="0">
              <a:solidFill>
                <a:srgbClr val="2E75B6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731520192"/>
              </p:ext>
            </p:extLst>
          </p:nvPr>
        </p:nvGraphicFramePr>
        <p:xfrm>
          <a:off x="2604349" y="4010769"/>
          <a:ext cx="7224395" cy="1837905"/>
        </p:xfrm>
        <a:graphic>
          <a:graphicData uri="http://schemas.openxmlformats.org/drawingml/2006/table">
            <a:tbl>
              <a:tblPr/>
              <a:tblGrid>
                <a:gridCol w="119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2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Calibri" charset="0"/>
                        </a:rPr>
                        <a:t>参数</a:t>
                      </a:r>
                      <a:endParaRPr lang="en-US" altLang="en-US" sz="1800" b="1" dirty="0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总线模式</a:t>
                      </a:r>
                      <a:endParaRPr lang="en-US" altLang="en-US" sz="1800" b="1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主控频率</a:t>
                      </a:r>
                      <a:endParaRPr lang="en-US" altLang="en-US" sz="1800" b="1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charset="0"/>
                          <a:cs typeface="Calibri" charset="0"/>
                        </a:rPr>
                        <a:t>error code</a:t>
                      </a:r>
                      <a:endParaRPr lang="en-US" altLang="en-US" sz="1800" b="1">
                        <a:solidFill>
                          <a:srgbClr val="FFFFFF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9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0x01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SDR</a:t>
                      </a:r>
                      <a:endParaRPr lang="en-US" altLang="en-US" sz="1800" b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120M 2</a:t>
                      </a: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分频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</a:t>
                      </a:r>
                      <a:r>
                        <a:rPr lang="en-US" altLang="zh-CN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331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x02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DDR1.0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120M 2</a:t>
                      </a:r>
                      <a:r>
                        <a:rPr lang="zh-CN" altLang="en-US" sz="1800" b="0" dirty="0" smtClean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分频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</a:t>
                      </a:r>
                      <a:r>
                        <a:rPr lang="en-US" altLang="zh-CN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332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0x03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DDR1.0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200M 1</a:t>
                      </a:r>
                      <a:r>
                        <a:rPr lang="zh-CN" altLang="en-US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分频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</a:t>
                      </a:r>
                      <a:r>
                        <a:rPr lang="en-US" altLang="zh-CN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333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000000"/>
                          </a:solidFill>
                          <a:latin typeface="Calibri" charset="0"/>
                          <a:cs typeface="Calibri" charset="0"/>
                        </a:rPr>
                        <a:t>0x04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b="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DDR2.0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  <a:sym typeface="+mn-ea"/>
                        </a:rPr>
                        <a:t>200M 1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charset="0"/>
                          <a:ea typeface="Calibri" charset="0"/>
                          <a:cs typeface="Calibri" charset="0"/>
                          <a:sym typeface="+mn-ea"/>
                        </a:rPr>
                        <a:t>分频</a:t>
                      </a:r>
                      <a:endParaRPr lang="en-US" altLang="en-US" sz="1800" b="0" dirty="0">
                        <a:solidFill>
                          <a:srgbClr val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0x</a:t>
                      </a:r>
                      <a:r>
                        <a:rPr lang="en-US" altLang="zh-CN" sz="1800" b="0" dirty="0" smtClean="0">
                          <a:solidFill>
                            <a:srgbClr val="FF0000"/>
                          </a:solidFill>
                          <a:latin typeface="Calibri" charset="0"/>
                          <a:cs typeface="Calibri" charset="0"/>
                        </a:rPr>
                        <a:t>334</a:t>
                      </a:r>
                      <a:endParaRPr lang="en-US" altLang="en-US" sz="1800" b="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1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FLASH</a:t>
            </a:r>
            <a:r>
              <a:rPr lang="zh-CN" altLang="en-US" dirty="0" smtClean="0">
                <a:sym typeface="+mn-ea"/>
              </a:rPr>
              <a:t>数据传输检测—</a:t>
            </a:r>
            <a:r>
              <a:rPr lang="en-US" altLang="zh-CN" dirty="0" smtClean="0">
                <a:sym typeface="+mn-ea"/>
              </a:rPr>
              <a:t>Flash IO</a:t>
            </a:r>
            <a:r>
              <a:rPr lang="zh-CN" altLang="en-US" dirty="0" smtClean="0">
                <a:sym typeface="+mn-ea"/>
              </a:rPr>
              <a:t>检测流程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endParaRPr lang="en-US" altLang="zh-CN" sz="1800" b="0" u="none" kern="100" dirty="0">
              <a:solidFill>
                <a:srgbClr val="2E75B6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2" y="2134231"/>
            <a:ext cx="11454596" cy="322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9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CODE BLOCK</a:t>
            </a:r>
            <a:r>
              <a:rPr lang="zh-CN" altLang="en-US" dirty="0" smtClean="0">
                <a:sym typeface="+mn-ea"/>
              </a:rPr>
              <a:t>检测</a:t>
            </a:r>
            <a:r>
              <a:rPr lang="en-US" altLang="zh-CN" dirty="0" smtClean="0"/>
              <a:t> 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目的：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对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数据进行检测，筛选出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en-US" altLang="zh-CN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Block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数据异常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样品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私有命令：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VCMD 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D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4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b="1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说明：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主控频率设为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120M 2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分频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三星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Flash 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Toggle1.0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下校验，其他厂商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Flash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SDR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下校验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DM3720平台处理：</a:t>
            </a:r>
            <a:r>
              <a:rPr lang="zh-CN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发送0xD4的私有命令。eMMC端对Code数据校验后，3720端会接收到eMMC返回的Code校验结果，通过返回的数据包是否出现以下错误码来判断Code数据校验的结果，如果接收到错误码，测试将被终止并返回对应的错误码。3720平台会设置一个超时值，D4私有命令执行过程中出现数据传输超时也会报Error并终止测试。</a:t>
            </a:r>
          </a:p>
          <a:p>
            <a:pPr>
              <a:lnSpc>
                <a:spcPct val="200000"/>
              </a:lnSpc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altLang="zh-CN" dirty="0" smtClean="0">
                <a:sym typeface="+mn-ea"/>
              </a:rPr>
              <a:t>CODE BLOCK</a:t>
            </a:r>
            <a:r>
              <a:rPr lang="zh-CN" altLang="en-US" dirty="0" smtClean="0">
                <a:sym typeface="+mn-ea"/>
              </a:rPr>
              <a:t>检测</a:t>
            </a:r>
            <a:r>
              <a:rPr lang="en-US" sz="3600" b="1" u="none" dirty="0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—</a:t>
            </a:r>
            <a:r>
              <a:rPr lang="en-US" altLang="zh-CN" sz="3600" b="1" u="none" dirty="0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Code</a:t>
            </a:r>
            <a:r>
              <a:rPr lang="zh-CN" altLang="en-US" sz="3600" b="1" u="none" dirty="0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搜索流程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altLang="zh-CN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altLang="en-US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搜索</a:t>
            </a:r>
            <a:r>
              <a:rPr lang="zh-CN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只读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冗余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判断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为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 Page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条件：冗余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第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字节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是否等于</a:t>
            </a:r>
            <a:r>
              <a:rPr lang="en-US" sz="1800" b="0" u="none" dirty="0" smtClean="0">
                <a:solidFill>
                  <a:srgbClr val="5B9BD5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0x40</a:t>
            </a:r>
            <a:endParaRPr lang="zh-CN" sz="1800" b="0" u="none" dirty="0" smtClean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随机化：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随机化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开启，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读冗余时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种子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设为</a:t>
            </a:r>
            <a:r>
              <a:rPr lang="en-US" alt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endParaRPr lang="zh-CN" sz="1800" b="0" u="none" dirty="0" smtClean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1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搜索规则</a:t>
            </a:r>
            <a:r>
              <a:rPr lang="zh-CN" sz="1800" b="1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搜索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128cycle	</a:t>
            </a:r>
            <a:r>
              <a:rPr lang="en-US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①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1-64Cycle</a:t>
            </a:r>
            <a:r>
              <a:rPr lang="zh-CN" alt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每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Cycle 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RowAddr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加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128 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	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②</a:t>
            </a:r>
            <a:r>
              <a:rPr lang="en-US" altLang="zh-CN" kern="100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65</a:t>
            </a:r>
            <a:r>
              <a:rPr lang="zh-CN" altLang="en-US" kern="100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-</a:t>
            </a:r>
            <a:r>
              <a:rPr lang="en-US" altLang="zh-CN" kern="100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96</a:t>
            </a:r>
            <a:r>
              <a:rPr 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Cycle</a:t>
            </a:r>
            <a:r>
              <a:rPr 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每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Cycle </a:t>
            </a:r>
            <a:r>
              <a:rPr lang="en-US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RowAddr</a:t>
            </a:r>
            <a:r>
              <a:rPr 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加</a:t>
            </a:r>
            <a:r>
              <a:rPr lang="en-US" alt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256	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③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97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128</a:t>
            </a:r>
            <a:r>
              <a:rPr 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Cycle</a:t>
            </a:r>
            <a:r>
              <a:rPr 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每</a:t>
            </a:r>
            <a:r>
              <a:rPr lang="en-US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Cycle </a:t>
            </a:r>
            <a:r>
              <a:rPr lang="en-US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RowAddr</a:t>
            </a:r>
            <a:r>
              <a:rPr 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加</a:t>
            </a:r>
            <a:r>
              <a:rPr lang="en-US" altLang="zh-CN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512</a:t>
            </a:r>
            <a:endParaRPr lang="en-US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以上步骤未搜到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0x341</a:t>
            </a:r>
            <a:r>
              <a:rPr lang="en-US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——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表示样品中无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48" y="4878040"/>
            <a:ext cx="9937853" cy="17797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altLang="zh-CN" dirty="0" smtClean="0">
                <a:sym typeface="+mn-ea"/>
              </a:rPr>
              <a:t>CODE BLOCK</a:t>
            </a:r>
            <a:r>
              <a:rPr lang="zh-CN" altLang="en-US" dirty="0" smtClean="0">
                <a:sym typeface="+mn-ea"/>
              </a:rPr>
              <a:t>检测</a:t>
            </a:r>
            <a:r>
              <a:rPr lang="en-US" sz="3600" b="1" u="none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——Code</a:t>
            </a:r>
            <a:r>
              <a:rPr lang="zh-CN" sz="3600" b="1" u="none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完整性校验</a:t>
            </a:r>
            <a:r>
              <a:rPr lang="en-US" sz="3600" b="1" u="none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 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、搜到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 Page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后，通过冗余可以得知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 Bit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BlockSize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，随机化种子，并进行设置。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、通过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BlockSize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，从搜到的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CodePage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开始，读后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个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Blk</a:t>
            </a:r>
            <a:r>
              <a:rPr b="0" u="none" dirty="0"/>
              <a:t> 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 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的冗余，判断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 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Blk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是否满足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4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份。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、判断依据：后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个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Blk</a:t>
            </a:r>
            <a:r>
              <a:rPr b="0" u="none" dirty="0"/>
              <a:t> 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 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第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个冗余是否都等于</a:t>
            </a:r>
            <a:r>
              <a:rPr lang="en-US" sz="1800" b="0" u="none" dirty="0">
                <a:solidFill>
                  <a:srgbClr val="5B9BD5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0x40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不满足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4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份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条件，报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0x342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 descr="upload_6797100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67" y="4658201"/>
            <a:ext cx="3833679" cy="761098"/>
          </a:xfrm>
          <a:prstGeom prst="rect">
            <a:avLst/>
          </a:prstGeom>
        </p:spPr>
      </p:pic>
      <p:pic>
        <p:nvPicPr>
          <p:cNvPr id="6" name="图片 5" descr="upload_212798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506" y="4016906"/>
            <a:ext cx="6497521" cy="201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altLang="zh-CN" dirty="0" smtClean="0">
                <a:sym typeface="+mn-ea"/>
              </a:rPr>
              <a:t>CODE BLOCK</a:t>
            </a:r>
            <a:r>
              <a:rPr lang="zh-CN" altLang="en-US" dirty="0" smtClean="0">
                <a:sym typeface="+mn-ea"/>
              </a:rPr>
              <a:t>检测</a:t>
            </a:r>
            <a:r>
              <a:rPr lang="en-US" sz="3600" b="1" u="none" dirty="0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—Code</a:t>
            </a:r>
            <a:r>
              <a:rPr lang="zh-CN" sz="3600" b="1" u="none" dirty="0">
                <a:solidFill>
                  <a:srgbClr val="3B3838"/>
                </a:solidFill>
                <a:latin typeface="微软雅黑" charset="0"/>
                <a:ea typeface="微软雅黑" charset="0"/>
                <a:cs typeface="+mj-cs"/>
              </a:rPr>
              <a:t>数据校验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、通过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IIR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结构体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，获取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 </a:t>
            </a:r>
            <a:r>
              <a:rPr lang="en-US" sz="1800" b="0" u="none" dirty="0" err="1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Blk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中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数，确认校验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1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份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范围，并校验。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2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、读每份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的有效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Page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，判断是否存在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Code ECC ill/Fail</a:t>
            </a:r>
            <a:r>
              <a:rPr lang="zh-CN" alt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sz="1800" b="0" u="none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3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、存在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 ill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0x343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存在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 Fail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报</a:t>
            </a:r>
            <a:r>
              <a:rPr lang="en-US" sz="1800" b="0" u="none" dirty="0">
                <a:solidFill>
                  <a:srgbClr val="FF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error 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0x344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 ill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和</a:t>
            </a:r>
            <a:r>
              <a:rPr lang="en-US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ECC Fail</a:t>
            </a:r>
            <a:r>
              <a:rPr lang="zh-CN" sz="1800" b="0" u="none" dirty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同时存在只报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0x344</a:t>
            </a:r>
            <a:r>
              <a:rPr lang="zh-CN" sz="1800" b="0" u="none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</a:rPr>
              <a:t>。</a:t>
            </a:r>
            <a:endParaRPr lang="en-US" altLang="zh-CN" sz="1800" b="0" u="none" dirty="0" smtClean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Code </a:t>
            </a:r>
            <a:r>
              <a:rPr lang="en-US" altLang="zh-CN" dirty="0" err="1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Blk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中有效</a:t>
            </a:r>
            <a:r>
              <a:rPr lang="en-US" alt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Code Page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数小于</a:t>
            </a:r>
            <a:r>
              <a:rPr lang="en-US" altLang="zh-CN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IIR</a:t>
            </a:r>
            <a:r>
              <a:rPr lang="zh-CN" altLang="en-US" dirty="0" smtClean="0">
                <a:solidFill>
                  <a:srgbClr val="000000"/>
                </a:solidFill>
                <a:latin typeface="Calibri" charset="0"/>
                <a:ea typeface="宋体" charset="0"/>
                <a:cs typeface="Times New Roman" panose="02020603050405020304" pitchFamily="18" charset="0"/>
                <a:sym typeface="+mn-ea"/>
              </a:rPr>
              <a:t>读出的页数，报</a:t>
            </a:r>
            <a:r>
              <a:rPr lang="en-US" altLang="zh-CN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error </a:t>
            </a:r>
            <a:r>
              <a:rPr lang="en-US" altLang="zh-CN" kern="100" dirty="0" smtClean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0x345</a:t>
            </a:r>
            <a:r>
              <a:rPr lang="zh-CN" altLang="en-US" kern="100" dirty="0" smtClean="0">
                <a:solidFill>
                  <a:srgbClr val="000000"/>
                </a:solidFill>
                <a:cs typeface="Times New Roman" panose="02020603050405020304" pitchFamily="18" charset="0"/>
                <a:sym typeface="+mn-ea"/>
              </a:rPr>
              <a:t>。</a:t>
            </a:r>
            <a:endParaRPr lang="en-US" dirty="0">
              <a:solidFill>
                <a:srgbClr val="000000"/>
              </a:solidFill>
              <a:latin typeface="Calibri" charset="0"/>
              <a:ea typeface="宋体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81" y="3825479"/>
            <a:ext cx="11155332" cy="2429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zh-CN" altLang="en-US" dirty="0" smtClean="0">
                <a:sym typeface="+mn-ea"/>
              </a:rPr>
              <a:t>测试结果显示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数据保存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实现方式</a:t>
            </a:r>
            <a:r>
              <a:rPr lang="zh-CN" altLang="en-US" b="1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通过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平台将测试结果以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TXT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格式上传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LVTS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服务器。测试过程中每一个小流程测试结束会将测试结果及数据上传到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LVTS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服务器，可以将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TXT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文件下载后以便查看测试进程，如下图所示为主控硬件检测流程测试结果上传到服务器的结果。在测试过程中，测试结果也将会以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TXT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的格式保存到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盘或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SD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卡，防止断网而导致数据丢失。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dirty="0" smtClean="0">
                <a:solidFill>
                  <a:schemeClr val="tx1"/>
                </a:solidFill>
                <a:latin typeface="Arial" panose="020B0604020202020204" pitchFamily="34" charset="0"/>
              </a:rPr>
              <a:t>测试</a:t>
            </a:r>
            <a:r>
              <a:rPr lang="zh-CN" altLang="zh-CN" dirty="0">
                <a:solidFill>
                  <a:schemeClr val="tx1"/>
                </a:solidFill>
                <a:latin typeface="Arial" panose="020B0604020202020204" pitchFamily="34" charset="0"/>
              </a:rPr>
              <a:t>结果无异常的数据： </a:t>
            </a:r>
            <a: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</a:rPr>
              <a:t>			        </a:t>
            </a:r>
            <a:r>
              <a:rPr lang="zh-CN" altLang="zh-CN" dirty="0" smtClean="0">
                <a:solidFill>
                  <a:schemeClr val="tx1"/>
                </a:solidFill>
                <a:latin typeface="Arial" panose="020B0604020202020204" pitchFamily="34" charset="0"/>
              </a:rPr>
              <a:t>测试</a:t>
            </a:r>
            <a:r>
              <a:rPr lang="zh-CN" altLang="zh-CN" dirty="0">
                <a:solidFill>
                  <a:schemeClr val="tx1"/>
                </a:solidFill>
                <a:latin typeface="Arial" panose="020B0604020202020204" pitchFamily="34" charset="0"/>
              </a:rPr>
              <a:t>结果</a:t>
            </a:r>
            <a:r>
              <a:rPr lang="zh-CN" altLang="zh-CN" dirty="0">
                <a:solidFill>
                  <a:srgbClr val="FF0000"/>
                </a:solidFill>
                <a:latin typeface="Arial" panose="020B0604020202020204" pitchFamily="34" charset="0"/>
              </a:rPr>
              <a:t>异常</a:t>
            </a:r>
            <a:r>
              <a:rPr lang="zh-CN" altLang="zh-CN" dirty="0">
                <a:solidFill>
                  <a:schemeClr val="tx1"/>
                </a:solidFill>
                <a:latin typeface="Arial" panose="020B0604020202020204" pitchFamily="34" charset="0"/>
              </a:rPr>
              <a:t>的数据：</a:t>
            </a:r>
            <a:endParaRPr lang="zh-CN" altLang="en-US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Aft>
                <a:spcPts val="0"/>
              </a:spcAft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7172" name="Picture 4" descr="https://office-dingding-tmp-cn-shenzhen.oss-cn-shenzhen.aliyuncs.com/shapes%2F36588679587%2F853dc1b7a03a2b31322b78c002f40fc581b00aa5?Expires=1623395577&amp;OSSAccessKeyId=LTAI4Fw3hDk6EMmYfYFyAR1u&amp;Signature=V22GqLTiC2GUZoweHoLRc%2FMG2PM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48" y="4473093"/>
            <a:ext cx="102108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63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zh-CN" altLang="en-US" dirty="0" smtClean="0">
                <a:sym typeface="+mn-ea"/>
              </a:rPr>
              <a:t>测试结果</a:t>
            </a:r>
            <a:r>
              <a:rPr lang="zh-CN" altLang="en-US" dirty="0">
                <a:sym typeface="+mn-ea"/>
              </a:rPr>
              <a:t>显示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报表显示</a:t>
            </a:r>
            <a:endParaRPr lang="zh-CN" altLang="en-US" sz="4000" dirty="0"/>
          </a:p>
        </p:txBody>
      </p:sp>
      <p:sp>
        <p:nvSpPr>
          <p:cNvPr id="5" name="TextBox 3"/>
          <p:cNvSpPr txBox="1"/>
          <p:nvPr/>
        </p:nvSpPr>
        <p:spPr>
          <a:xfrm>
            <a:off x="843148" y="1596980"/>
            <a:ext cx="10809804" cy="482757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b="1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实现方式：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通过</a:t>
            </a:r>
            <a:r>
              <a:rPr lang="en-US" altLang="zh-CN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3720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平台可将测试结果以报表的形式显示。下图所示为主控硬件检测流程测试结果上传到服务器的结果。 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测试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结果无异常的报表数据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kern="1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测试</a:t>
            </a:r>
            <a:r>
              <a:rPr lang="zh-CN" altLang="en-US" kern="1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结果</a:t>
            </a:r>
            <a:r>
              <a:rPr lang="zh-CN" altLang="en-US" kern="1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异常</a:t>
            </a:r>
            <a:r>
              <a:rPr lang="zh-CN" altLang="en-US" kern="100" dirty="0">
                <a:solidFill>
                  <a:schemeClr val="tx1"/>
                </a:solidFill>
                <a:cs typeface="Times New Roman" panose="02020603050405020304" pitchFamily="18" charset="0"/>
              </a:rPr>
              <a:t>的报表数据：</a:t>
            </a: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altLang="zh-CN" kern="1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pic>
        <p:nvPicPr>
          <p:cNvPr id="6147" name="Picture 3" descr="https://office-dingding-tmp-cn-shenzhen.oss-cn-shenzhen.aliyuncs.com/shapes%2F36588679587%2Ffbfc19dd41c848c5c86b19277cace65e0b292f59?Expires=1623395746&amp;OSSAccessKeyId=LTAI4Fw3hDk6EMmYfYFyAR1u&amp;Signature=JAlY7gfT5%2Fau%2BcEr%2BXPK7yDEw%2FQ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48" y="3180738"/>
            <a:ext cx="1038225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https://office-dingding-tmp-cn-shenzhen.oss-cn-shenzhen.aliyuncs.com/shapes%2F36588679587%2F59e897a1a30dfb5f40514e299ad6bf2625b67c0d?Expires=1623423511&amp;OSSAccessKeyId=LTAI4Fw3hDk6EMmYfYFyAR1u&amp;Signature=dv6E%2B1BU7T%2FGKQk%2BG1X%2FxzowhVs%3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298" y="4838591"/>
            <a:ext cx="103251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08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7E6E6">
                    <a:lumMod val="25000"/>
                  </a:srgbClr>
                </a:solidFill>
              </a:rPr>
              <a:t>感谢聆听</a:t>
            </a:r>
            <a:endParaRPr lang="zh-CN" altLang="en-US" sz="1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lt1"/>
        </a:solidFill>
        <a:ln w="6350">
          <a:noFill/>
        </a:ln>
      </a:spPr>
      <a:bodyPr rot="0" spcFirstLastPara="0" vert="horz" wrap="square" lIns="91440" tIns="45720" rIns="91440" bIns="45720" numCol="1" spcCol="0" rtlCol="0" fromWordArt="0" anchor="t" anchorCtr="0" forceAA="0" compatLnSpc="1">
        <a:noAutofit/>
      </a:bodyPr>
      <a:lstStyle>
        <a:defPPr algn="just">
          <a:spcAft>
            <a:spcPts val="0"/>
          </a:spcAft>
          <a:defRPr sz="1000" kern="100" dirty="0" smtClean="0">
            <a:solidFill>
              <a:schemeClr val="bg1">
                <a:lumMod val="65000"/>
              </a:schemeClr>
            </a:solidFill>
            <a:effectLst/>
            <a:ea typeface="宋体" pitchFamily="2" charset="-122"/>
            <a:cs typeface="Times New Roman" panose="02020603050405020304" pitchFamily="18" charset="0"/>
          </a:defRPr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3326</Words>
  <Application>Microsoft Office PowerPoint</Application>
  <PresentationFormat>宽屏</PresentationFormat>
  <Paragraphs>372</Paragraphs>
  <Slides>33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宋体</vt:lpstr>
      <vt:lpstr>微软雅黑</vt:lpstr>
      <vt:lpstr>Arial</vt:lpstr>
      <vt:lpstr>Calibri</vt:lpstr>
      <vt:lpstr>Impact</vt:lpstr>
      <vt:lpstr>Times New Roman</vt:lpstr>
      <vt:lpstr>Wingdings</vt:lpstr>
      <vt:lpstr>webwppDefTheme</vt:lpstr>
      <vt:lpstr>Office 主题</vt:lpstr>
      <vt:lpstr>FA分析工具 扫描部分详细设计</vt:lpstr>
      <vt:lpstr>PowerPoint 演示文稿</vt:lpstr>
      <vt:lpstr>项目简介</vt:lpstr>
      <vt:lpstr>RMA类型</vt:lpstr>
      <vt:lpstr>FA分析工具总流程</vt:lpstr>
      <vt:lpstr>主控硬件检测</vt:lpstr>
      <vt:lpstr>主控硬件检测—检测流程</vt:lpstr>
      <vt:lpstr>3720平台异常处理</vt:lpstr>
      <vt:lpstr>3720平台异常处理</vt:lpstr>
      <vt:lpstr>3720平台异常处理</vt:lpstr>
      <vt:lpstr>3720平台异常处理</vt:lpstr>
      <vt:lpstr>3720平台异常处理</vt:lpstr>
      <vt:lpstr>3720平台异常处理</vt:lpstr>
      <vt:lpstr>3720平台异常处理</vt:lpstr>
      <vt:lpstr>3720平台异常处理</vt:lpstr>
      <vt:lpstr>FLASH时序检测—私有命令</vt:lpstr>
      <vt:lpstr>FLASH时序检测—Flash厂商识别</vt:lpstr>
      <vt:lpstr>FLASH时序检测—总线检测</vt:lpstr>
      <vt:lpstr>FLASH时序检测—总线检测</vt:lpstr>
      <vt:lpstr>FLASH时序检测—总线检测（SDR）</vt:lpstr>
      <vt:lpstr>FLASH时序检测—总线检测（DDR1.0）</vt:lpstr>
      <vt:lpstr>FLASH时序检测—总线检测（DDR1.0+DQSn）</vt:lpstr>
      <vt:lpstr>FLASH时序检测—总线检测（DDR2.0）</vt:lpstr>
      <vt:lpstr>FLASH数据传输检测—Flash IO检测</vt:lpstr>
      <vt:lpstr>FLASH数据传输检测—Flash IO检测</vt:lpstr>
      <vt:lpstr>FLASH数据传输检测—Flash IO检测流程</vt:lpstr>
      <vt:lpstr>CODE BLOCK检测 </vt:lpstr>
      <vt:lpstr>CODE BLOCK检测—Code搜索流程</vt:lpstr>
      <vt:lpstr>CODE BLOCK检测——Code完整性校验 </vt:lpstr>
      <vt:lpstr>CODE BLOCK检测—Code数据校验</vt:lpstr>
      <vt:lpstr>测试结果显示——数据保存</vt:lpstr>
      <vt:lpstr>测试结果显示——报表显示</vt:lpstr>
      <vt:lpstr>感谢聆听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FA分析工具 扫描部分详细设计</dc:title>
  <dc:creator>媒体策划部 刘卓</dc:creator>
  <cp:lastModifiedBy>研发中心 研发一部 洪梓昆</cp:lastModifiedBy>
  <cp:revision>135</cp:revision>
  <dcterms:created xsi:type="dcterms:W3CDTF">2021-06-02T08:11:40Z</dcterms:created>
  <dcterms:modified xsi:type="dcterms:W3CDTF">2021-06-18T02:29:14Z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